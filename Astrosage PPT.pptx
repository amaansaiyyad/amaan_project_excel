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5"/>
  </p:notesMasterIdLst>
  <p:sldIdLst>
    <p:sldId id="256" r:id="rId2"/>
    <p:sldId id="259" r:id="rId3"/>
    <p:sldId id="257" r:id="rId4"/>
    <p:sldId id="260" r:id="rId5"/>
    <p:sldId id="264" r:id="rId6"/>
    <p:sldId id="291" r:id="rId7"/>
    <p:sldId id="294" r:id="rId8"/>
    <p:sldId id="299" r:id="rId9"/>
    <p:sldId id="293" r:id="rId10"/>
    <p:sldId id="298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292" r:id="rId19"/>
    <p:sldId id="307" r:id="rId20"/>
    <p:sldId id="275" r:id="rId21"/>
    <p:sldId id="308" r:id="rId22"/>
    <p:sldId id="309" r:id="rId23"/>
    <p:sldId id="290" r:id="rId24"/>
  </p:sldIdLst>
  <p:sldSz cx="9144000" cy="5143500" type="screen16x9"/>
  <p:notesSz cx="6858000" cy="9144000"/>
  <p:embeddedFontLst>
    <p:embeddedFont>
      <p:font typeface="Dancing Script" panose="020B0604020202020204" charset="0"/>
      <p:regular r:id="rId26"/>
      <p:bold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ermanent Marker" panose="020B0604020202020204" charset="0"/>
      <p:regular r:id="rId32"/>
    </p:embeddedFont>
    <p:embeddedFont>
      <p:font typeface="Roboto Condensed Light" panose="02000000000000000000" pitchFamily="2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474F4D-FFD2-4C27-BAF9-44A180BB5218}">
  <a:tblStyle styleId="{23474F4D-FFD2-4C27-BAF9-44A180BB52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9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8" name="Google Shape;3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a953684262_0_15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0" name="Google Shape;460;ga953684262_0_15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40406ED8-9170-09E9-2452-64003040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B9E12547-D3A7-8D6E-9E47-92181045A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5D9AD3AC-2168-8FBF-83A1-484FEBF3A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719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D75B1446-BE67-3201-0F0C-2D3E1707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634BFB37-02CE-54C8-CB05-ACE727681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629FBBC5-E67E-578D-87C9-A9D600F8D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28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E6286EAC-C11A-D248-6270-5CD3E26C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D539BB85-E35F-59BF-BF27-1B99EAB62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6BCAEB43-D803-1665-60DE-540CF41A7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95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B83D38E6-4F0B-384A-0E32-F51A80F3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768E8644-D7F3-F9B3-892C-00AA59F9F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44807F60-985A-892C-BF40-C454093E9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159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BDA3D6BD-9333-0AFC-240E-05C9C4CB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E523E222-BE1E-581A-91D7-AA0225A3D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7D6BD73B-67AC-4389-A9A8-122030218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621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6ABC89E4-90C2-B4E5-E6AE-FA35CCE0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E3902E18-295A-BD7B-1CC3-30E158DEB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8FA6A9B1-71BA-BFFD-BB04-27E7F080E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516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93DB851A-7DFD-3FA9-0E79-E3BC6351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4E110CF9-CD1E-6DFC-0886-CABA01422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1AE77F1D-9873-F4E1-628E-F323F519B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711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E7E006FB-3F02-4A1A-993E-3E429782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E941AE6A-C0CD-0E56-2EEE-FF592A971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1A0AF1A-1E06-FA5D-7A04-C4D0904B6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251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5134077C-1AE4-A3D7-F319-FE981B35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FC0709DC-D159-48A1-1D0A-6C7096151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227FB4B-892F-A2D2-2B23-D38A1A373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075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D69ECBC3-402D-ED0C-15F0-9A5D6CFE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DBAF32F5-DF7A-8146-AC0A-95F6864A6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07DCFA2-58D4-F19D-24A8-CC20E4D04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0257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A7A14FF4-3362-8AAD-3C58-3B0276BF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E9385FCF-EF35-443F-C4E9-10741F7DF6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38E4FB10-EB4D-E45A-F261-8B824F3B0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291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91C16DC2-8DA8-C153-2A9E-F41C68FC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>
            <a:extLst>
              <a:ext uri="{FF2B5EF4-FFF2-40B4-BE49-F238E27FC236}">
                <a16:creationId xmlns:a16="http://schemas.microsoft.com/office/drawing/2014/main" id="{A01BEC2C-1BBF-BCDA-F5B0-660888175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>
            <a:extLst>
              <a:ext uri="{FF2B5EF4-FFF2-40B4-BE49-F238E27FC236}">
                <a16:creationId xmlns:a16="http://schemas.microsoft.com/office/drawing/2014/main" id="{056E6F38-44A5-C629-42F4-E1D5D9A37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923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5318FF47-5663-D04B-AF72-0B916EC5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FFA60031-EEE7-AA7C-88C0-EA17EE64C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BD0EEA8-FFCF-2F96-A266-3E159946C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332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EF96D199-B673-53D5-5812-CB3EAA7A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>
            <a:extLst>
              <a:ext uri="{FF2B5EF4-FFF2-40B4-BE49-F238E27FC236}">
                <a16:creationId xmlns:a16="http://schemas.microsoft.com/office/drawing/2014/main" id="{438B0B5C-7BF3-33BD-E9D4-994299077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>
            <a:extLst>
              <a:ext uri="{FF2B5EF4-FFF2-40B4-BE49-F238E27FC236}">
                <a16:creationId xmlns:a16="http://schemas.microsoft.com/office/drawing/2014/main" id="{90E82354-8B45-3725-4EAB-F5A5C1549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085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115f2eaace1_1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73" name="Google Shape;1573;g115f2eaace1_1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A5E35606-007D-85AC-6955-23423885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>
            <a:extLst>
              <a:ext uri="{FF2B5EF4-FFF2-40B4-BE49-F238E27FC236}">
                <a16:creationId xmlns:a16="http://schemas.microsoft.com/office/drawing/2014/main" id="{6109EF8E-B06C-5017-107D-D132DDC3C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>
            <a:extLst>
              <a:ext uri="{FF2B5EF4-FFF2-40B4-BE49-F238E27FC236}">
                <a16:creationId xmlns:a16="http://schemas.microsoft.com/office/drawing/2014/main" id="{45072238-EC79-4F14-87D7-94113C6BF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35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>
          <a:extLst>
            <a:ext uri="{FF2B5EF4-FFF2-40B4-BE49-F238E27FC236}">
              <a16:creationId xmlns:a16="http://schemas.microsoft.com/office/drawing/2014/main" id="{90D14999-A59A-A7F7-A25A-50DA7E52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115f2eaace1_1_574:notes">
            <a:extLst>
              <a:ext uri="{FF2B5EF4-FFF2-40B4-BE49-F238E27FC236}">
                <a16:creationId xmlns:a16="http://schemas.microsoft.com/office/drawing/2014/main" id="{11C7E4F3-80FC-0B93-72A1-9911E9F1D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73" name="Google Shape;1573;g115f2eaace1_1_574:notes">
            <a:extLst>
              <a:ext uri="{FF2B5EF4-FFF2-40B4-BE49-F238E27FC236}">
                <a16:creationId xmlns:a16="http://schemas.microsoft.com/office/drawing/2014/main" id="{037F020E-2B4E-602F-38F1-89B1AF281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570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113dc431978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67" name="Google Shape;2167;g113dc431978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14048" y="1236612"/>
            <a:ext cx="9129952" cy="227001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7170420" y="2066735"/>
            <a:ext cx="1987628" cy="1792640"/>
          </a:xfrm>
          <a:custGeom>
            <a:avLst/>
            <a:gdLst/>
            <a:ahLst/>
            <a:cxnLst/>
            <a:rect l="l" t="t" r="r" b="b"/>
            <a:pathLst>
              <a:path w="101943" h="56020" extrusionOk="0">
                <a:moveTo>
                  <a:pt x="45782" y="1"/>
                </a:moveTo>
                <a:cubicBezTo>
                  <a:pt x="45710" y="1"/>
                  <a:pt x="45638" y="9"/>
                  <a:pt x="45566" y="25"/>
                </a:cubicBezTo>
                <a:lnTo>
                  <a:pt x="35541" y="2394"/>
                </a:lnTo>
                <a:cubicBezTo>
                  <a:pt x="35255" y="2454"/>
                  <a:pt x="35017" y="2644"/>
                  <a:pt x="34886" y="2894"/>
                </a:cubicBezTo>
                <a:lnTo>
                  <a:pt x="32505" y="7299"/>
                </a:lnTo>
                <a:lnTo>
                  <a:pt x="28517" y="9407"/>
                </a:lnTo>
                <a:cubicBezTo>
                  <a:pt x="28207" y="9573"/>
                  <a:pt x="28005" y="9871"/>
                  <a:pt x="27981" y="10205"/>
                </a:cubicBezTo>
                <a:lnTo>
                  <a:pt x="26588" y="26230"/>
                </a:lnTo>
                <a:lnTo>
                  <a:pt x="23611" y="13931"/>
                </a:lnTo>
                <a:cubicBezTo>
                  <a:pt x="23500" y="13455"/>
                  <a:pt x="23077" y="13169"/>
                  <a:pt x="22637" y="13169"/>
                </a:cubicBezTo>
                <a:cubicBezTo>
                  <a:pt x="22418" y="13169"/>
                  <a:pt x="22194" y="13241"/>
                  <a:pt x="22004" y="13395"/>
                </a:cubicBezTo>
                <a:lnTo>
                  <a:pt x="20349" y="14729"/>
                </a:lnTo>
                <a:cubicBezTo>
                  <a:pt x="20123" y="14907"/>
                  <a:pt x="19980" y="15181"/>
                  <a:pt x="19968" y="15479"/>
                </a:cubicBezTo>
                <a:lnTo>
                  <a:pt x="18932" y="39446"/>
                </a:lnTo>
                <a:lnTo>
                  <a:pt x="7" y="56015"/>
                </a:lnTo>
                <a:lnTo>
                  <a:pt x="7" y="56015"/>
                </a:lnTo>
                <a:cubicBezTo>
                  <a:pt x="864" y="55619"/>
                  <a:pt x="101942" y="49364"/>
                  <a:pt x="101942" y="49364"/>
                </a:cubicBezTo>
                <a:lnTo>
                  <a:pt x="71665" y="43030"/>
                </a:lnTo>
                <a:lnTo>
                  <a:pt x="70498" y="28397"/>
                </a:lnTo>
                <a:cubicBezTo>
                  <a:pt x="70462" y="27897"/>
                  <a:pt x="70046" y="27492"/>
                  <a:pt x="69534" y="27480"/>
                </a:cubicBezTo>
                <a:lnTo>
                  <a:pt x="63890" y="27278"/>
                </a:lnTo>
                <a:lnTo>
                  <a:pt x="61080" y="14455"/>
                </a:lnTo>
                <a:cubicBezTo>
                  <a:pt x="60980" y="13987"/>
                  <a:pt x="60577" y="13665"/>
                  <a:pt x="60115" y="13665"/>
                </a:cubicBezTo>
                <a:cubicBezTo>
                  <a:pt x="60084" y="13665"/>
                  <a:pt x="60052" y="13666"/>
                  <a:pt x="60020" y="13669"/>
                </a:cubicBezTo>
                <a:lnTo>
                  <a:pt x="52198" y="14348"/>
                </a:lnTo>
                <a:lnTo>
                  <a:pt x="46721" y="632"/>
                </a:lnTo>
                <a:cubicBezTo>
                  <a:pt x="46569" y="248"/>
                  <a:pt x="46186" y="1"/>
                  <a:pt x="45782" y="1"/>
                </a:cubicBezTo>
                <a:close/>
                <a:moveTo>
                  <a:pt x="7" y="56015"/>
                </a:moveTo>
                <a:lnTo>
                  <a:pt x="7" y="56015"/>
                </a:lnTo>
                <a:cubicBezTo>
                  <a:pt x="3" y="56017"/>
                  <a:pt x="1" y="56018"/>
                  <a:pt x="1" y="56020"/>
                </a:cubicBezTo>
                <a:lnTo>
                  <a:pt x="7" y="56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2873475"/>
            <a:ext cx="9144000" cy="2270005"/>
          </a:xfrm>
          <a:custGeom>
            <a:avLst/>
            <a:gdLst/>
            <a:ahLst/>
            <a:cxnLst/>
            <a:rect l="l" t="t" r="r" b="b"/>
            <a:pathLst>
              <a:path w="285750" h="79475" extrusionOk="0">
                <a:moveTo>
                  <a:pt x="190413" y="0"/>
                </a:moveTo>
                <a:cubicBezTo>
                  <a:pt x="190390" y="0"/>
                  <a:pt x="190368" y="0"/>
                  <a:pt x="190345" y="1"/>
                </a:cubicBezTo>
                <a:lnTo>
                  <a:pt x="190226" y="1"/>
                </a:lnTo>
                <a:lnTo>
                  <a:pt x="113276" y="870"/>
                </a:lnTo>
                <a:lnTo>
                  <a:pt x="44827" y="1656"/>
                </a:lnTo>
                <a:cubicBezTo>
                  <a:pt x="33338" y="1787"/>
                  <a:pt x="21848" y="1918"/>
                  <a:pt x="10358" y="2049"/>
                </a:cubicBezTo>
                <a:cubicBezTo>
                  <a:pt x="9909" y="2053"/>
                  <a:pt x="9456" y="2056"/>
                  <a:pt x="9000" y="2056"/>
                </a:cubicBezTo>
                <a:cubicBezTo>
                  <a:pt x="6097" y="2056"/>
                  <a:pt x="3066" y="1966"/>
                  <a:pt x="0" y="1894"/>
                </a:cubicBezTo>
                <a:lnTo>
                  <a:pt x="0" y="79475"/>
                </a:lnTo>
                <a:lnTo>
                  <a:pt x="285750" y="79475"/>
                </a:lnTo>
                <a:lnTo>
                  <a:pt x="285750" y="22515"/>
                </a:lnTo>
                <a:cubicBezTo>
                  <a:pt x="265231" y="21196"/>
                  <a:pt x="244661" y="20537"/>
                  <a:pt x="224041" y="20537"/>
                </a:cubicBezTo>
                <a:cubicBezTo>
                  <a:pt x="222322" y="20537"/>
                  <a:pt x="220604" y="20542"/>
                  <a:pt x="218885" y="20551"/>
                </a:cubicBezTo>
                <a:cubicBezTo>
                  <a:pt x="210981" y="20587"/>
                  <a:pt x="203062" y="20724"/>
                  <a:pt x="195153" y="20724"/>
                </a:cubicBezTo>
                <a:cubicBezTo>
                  <a:pt x="184808" y="20724"/>
                  <a:pt x="174479" y="20490"/>
                  <a:pt x="164223" y="19491"/>
                </a:cubicBezTo>
                <a:cubicBezTo>
                  <a:pt x="161913" y="19277"/>
                  <a:pt x="159198" y="18789"/>
                  <a:pt x="159008" y="16705"/>
                </a:cubicBezTo>
                <a:cubicBezTo>
                  <a:pt x="158865" y="15205"/>
                  <a:pt x="160258" y="13871"/>
                  <a:pt x="162139" y="13383"/>
                </a:cubicBezTo>
                <a:lnTo>
                  <a:pt x="191643" y="5632"/>
                </a:lnTo>
                <a:cubicBezTo>
                  <a:pt x="195741" y="4554"/>
                  <a:pt x="194737" y="0"/>
                  <a:pt x="1904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666112" y="0"/>
            <a:ext cx="1463840" cy="1463808"/>
          </a:xfrm>
          <a:custGeom>
            <a:avLst/>
            <a:gdLst/>
            <a:ahLst/>
            <a:cxnLst/>
            <a:rect l="l" t="t" r="r" b="b"/>
            <a:pathLst>
              <a:path w="45745" h="45744" extrusionOk="0">
                <a:moveTo>
                  <a:pt x="22872" y="0"/>
                </a:moveTo>
                <a:cubicBezTo>
                  <a:pt x="10240" y="0"/>
                  <a:pt x="0" y="10239"/>
                  <a:pt x="0" y="22872"/>
                </a:cubicBezTo>
                <a:cubicBezTo>
                  <a:pt x="0" y="35504"/>
                  <a:pt x="10240" y="45744"/>
                  <a:pt x="22872" y="45744"/>
                </a:cubicBezTo>
                <a:cubicBezTo>
                  <a:pt x="35505" y="45744"/>
                  <a:pt x="45744" y="35504"/>
                  <a:pt x="45744" y="22872"/>
                </a:cubicBezTo>
                <a:cubicBezTo>
                  <a:pt x="45744" y="10239"/>
                  <a:pt x="35505" y="0"/>
                  <a:pt x="228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4930140" y="4219375"/>
            <a:ext cx="4213861" cy="931422"/>
            <a:chOff x="4803306" y="3999724"/>
            <a:chExt cx="5369879" cy="1134272"/>
          </a:xfrm>
        </p:grpSpPr>
        <p:sp>
          <p:nvSpPr>
            <p:cNvPr id="14" name="Google Shape;14;p2"/>
            <p:cNvSpPr/>
            <p:nvPr/>
          </p:nvSpPr>
          <p:spPr>
            <a:xfrm>
              <a:off x="4803306" y="3999724"/>
              <a:ext cx="2692544" cy="1134272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480641" y="3999724"/>
              <a:ext cx="2692544" cy="1134272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42000" y="666175"/>
            <a:ext cx="3861300" cy="23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 b="1">
                <a:latin typeface="Dancing Script"/>
                <a:ea typeface="Dancing Script"/>
                <a:cs typeface="Dancing Script"/>
                <a:sym typeface="Dancing Scri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942000" y="3859375"/>
            <a:ext cx="38613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942000" y="3120775"/>
            <a:ext cx="38613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-4775" y="1229425"/>
            <a:ext cx="9148775" cy="3914075"/>
            <a:chOff x="-4775" y="1229425"/>
            <a:chExt cx="9148775" cy="4954133"/>
          </a:xfrm>
        </p:grpSpPr>
        <p:sp>
          <p:nvSpPr>
            <p:cNvPr id="21" name="Google Shape;21;p3"/>
            <p:cNvSpPr/>
            <p:nvPr/>
          </p:nvSpPr>
          <p:spPr>
            <a:xfrm>
              <a:off x="-4775" y="1229425"/>
              <a:ext cx="9129952" cy="260129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-4775" y="3248438"/>
              <a:ext cx="9144000" cy="2923424"/>
            </a:xfrm>
            <a:custGeom>
              <a:avLst/>
              <a:gdLst/>
              <a:ahLst/>
              <a:cxnLst/>
              <a:rect l="l" t="t" r="r" b="b"/>
              <a:pathLst>
                <a:path w="285750" h="91357" extrusionOk="0">
                  <a:moveTo>
                    <a:pt x="53900" y="0"/>
                  </a:moveTo>
                  <a:cubicBezTo>
                    <a:pt x="53900" y="0"/>
                    <a:pt x="47780" y="2834"/>
                    <a:pt x="52518" y="4763"/>
                  </a:cubicBezTo>
                  <a:lnTo>
                    <a:pt x="72759" y="11311"/>
                  </a:lnTo>
                  <a:cubicBezTo>
                    <a:pt x="74593" y="11728"/>
                    <a:pt x="75938" y="12847"/>
                    <a:pt x="75807" y="14109"/>
                  </a:cubicBezTo>
                  <a:cubicBezTo>
                    <a:pt x="75617" y="15871"/>
                    <a:pt x="72973" y="16288"/>
                    <a:pt x="70723" y="16466"/>
                  </a:cubicBezTo>
                  <a:cubicBezTo>
                    <a:pt x="63870" y="17041"/>
                    <a:pt x="55702" y="17402"/>
                    <a:pt x="46703" y="17402"/>
                  </a:cubicBezTo>
                  <a:cubicBezTo>
                    <a:pt x="32563" y="17402"/>
                    <a:pt x="16370" y="16509"/>
                    <a:pt x="0" y="14145"/>
                  </a:cubicBezTo>
                  <a:lnTo>
                    <a:pt x="0" y="14145"/>
                  </a:lnTo>
                  <a:lnTo>
                    <a:pt x="60" y="91357"/>
                  </a:lnTo>
                  <a:lnTo>
                    <a:pt x="285750" y="91357"/>
                  </a:lnTo>
                  <a:lnTo>
                    <a:pt x="285750" y="3929"/>
                  </a:lnTo>
                  <a:cubicBezTo>
                    <a:pt x="281561" y="3972"/>
                    <a:pt x="277371" y="4113"/>
                    <a:pt x="273429" y="4113"/>
                  </a:cubicBezTo>
                  <a:cubicBezTo>
                    <a:pt x="273013" y="4113"/>
                    <a:pt x="272599" y="4111"/>
                    <a:pt x="272189" y="4108"/>
                  </a:cubicBezTo>
                  <a:cubicBezTo>
                    <a:pt x="260997" y="4013"/>
                    <a:pt x="249817" y="3893"/>
                    <a:pt x="238625" y="3774"/>
                  </a:cubicBezTo>
                  <a:lnTo>
                    <a:pt x="171974" y="3120"/>
                  </a:lnTo>
                  <a:cubicBezTo>
                    <a:pt x="146995" y="2870"/>
                    <a:pt x="78879" y="250"/>
                    <a:pt x="53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>
              <a:off x="6141703" y="4887233"/>
              <a:ext cx="3002297" cy="1296325"/>
            </a:xfrm>
            <a:custGeom>
              <a:avLst/>
              <a:gdLst/>
              <a:ahLst/>
              <a:cxnLst/>
              <a:rect l="l" t="t" r="r" b="b"/>
              <a:pathLst>
                <a:path w="86453" h="31041" extrusionOk="0">
                  <a:moveTo>
                    <a:pt x="1" y="1"/>
                  </a:moveTo>
                  <a:lnTo>
                    <a:pt x="1" y="31040"/>
                  </a:lnTo>
                  <a:lnTo>
                    <a:pt x="86452" y="31040"/>
                  </a:lnTo>
                  <a:cubicBezTo>
                    <a:pt x="86309" y="30624"/>
                    <a:pt x="86155" y="30183"/>
                    <a:pt x="85988" y="29766"/>
                  </a:cubicBezTo>
                  <a:cubicBezTo>
                    <a:pt x="84940" y="27099"/>
                    <a:pt x="83500" y="24563"/>
                    <a:pt x="81499" y="22539"/>
                  </a:cubicBezTo>
                  <a:cubicBezTo>
                    <a:pt x="77417" y="18424"/>
                    <a:pt x="71595" y="16952"/>
                    <a:pt x="65677" y="16952"/>
                  </a:cubicBezTo>
                  <a:cubicBezTo>
                    <a:pt x="63188" y="16952"/>
                    <a:pt x="60682" y="17212"/>
                    <a:pt x="58282" y="17646"/>
                  </a:cubicBezTo>
                  <a:cubicBezTo>
                    <a:pt x="51698" y="18836"/>
                    <a:pt x="44852" y="21432"/>
                    <a:pt x="41173" y="27016"/>
                  </a:cubicBezTo>
                  <a:cubicBezTo>
                    <a:pt x="41328" y="20301"/>
                    <a:pt x="37196" y="13467"/>
                    <a:pt x="30862" y="11216"/>
                  </a:cubicBezTo>
                  <a:cubicBezTo>
                    <a:pt x="29483" y="10725"/>
                    <a:pt x="28026" y="10491"/>
                    <a:pt x="26566" y="10491"/>
                  </a:cubicBezTo>
                  <a:cubicBezTo>
                    <a:pt x="21305" y="10491"/>
                    <a:pt x="16000" y="13523"/>
                    <a:pt x="14146" y="18443"/>
                  </a:cubicBezTo>
                  <a:cubicBezTo>
                    <a:pt x="13824" y="14407"/>
                    <a:pt x="12872" y="10347"/>
                    <a:pt x="10705" y="6918"/>
                  </a:cubicBezTo>
                  <a:cubicBezTo>
                    <a:pt x="8538" y="3489"/>
                    <a:pt x="5061" y="763"/>
                    <a:pt x="1061" y="108"/>
                  </a:cubicBezTo>
                  <a:cubicBezTo>
                    <a:pt x="715" y="48"/>
                    <a:pt x="358" y="13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10600" y="2227685"/>
            <a:ext cx="3832500" cy="11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010600" y="3629035"/>
            <a:ext cx="26595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1114950" y="1164085"/>
            <a:ext cx="11379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 flipH="1">
            <a:off x="14050" y="2063475"/>
            <a:ext cx="9129952" cy="260129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flipH="1">
            <a:off x="7026" y="4609498"/>
            <a:ext cx="9144000" cy="572655"/>
          </a:xfrm>
          <a:custGeom>
            <a:avLst/>
            <a:gdLst/>
            <a:ahLst/>
            <a:cxnLst/>
            <a:rect l="l" t="t" r="r" b="b"/>
            <a:pathLst>
              <a:path w="285750" h="55937" extrusionOk="0">
                <a:moveTo>
                  <a:pt x="0" y="1"/>
                </a:moveTo>
                <a:lnTo>
                  <a:pt x="60" y="55936"/>
                </a:lnTo>
                <a:lnTo>
                  <a:pt x="285750" y="55936"/>
                </a:lnTo>
                <a:lnTo>
                  <a:pt x="285750" y="685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430750" y="-201636"/>
            <a:ext cx="897217" cy="893360"/>
          </a:xfrm>
          <a:custGeom>
            <a:avLst/>
            <a:gdLst/>
            <a:ahLst/>
            <a:cxnLst/>
            <a:rect l="l" t="t" r="r" b="b"/>
            <a:pathLst>
              <a:path w="45745" h="45744" extrusionOk="0">
                <a:moveTo>
                  <a:pt x="22872" y="0"/>
                </a:moveTo>
                <a:cubicBezTo>
                  <a:pt x="10240" y="0"/>
                  <a:pt x="0" y="10239"/>
                  <a:pt x="0" y="22872"/>
                </a:cubicBezTo>
                <a:cubicBezTo>
                  <a:pt x="0" y="35504"/>
                  <a:pt x="10240" y="45744"/>
                  <a:pt x="22872" y="45744"/>
                </a:cubicBezTo>
                <a:cubicBezTo>
                  <a:pt x="35505" y="45744"/>
                  <a:pt x="45744" y="35504"/>
                  <a:pt x="45744" y="22872"/>
                </a:cubicBezTo>
                <a:cubicBezTo>
                  <a:pt x="45744" y="10239"/>
                  <a:pt x="35505" y="0"/>
                  <a:pt x="228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flipH="1">
            <a:off x="6655875" y="4258164"/>
            <a:ext cx="2488117" cy="893360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50" y="411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13250" y="983725"/>
            <a:ext cx="7717500" cy="3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ncing Script"/>
              <a:buAutoNum type="arabicPeriod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5" name="Google Shape;35;p4"/>
          <p:cNvSpPr/>
          <p:nvPr/>
        </p:nvSpPr>
        <p:spPr>
          <a:xfrm flipH="1">
            <a:off x="-56103" y="4042253"/>
            <a:ext cx="2692544" cy="1134272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 flipH="1">
            <a:off x="7025" y="4590126"/>
            <a:ext cx="9144000" cy="572655"/>
          </a:xfrm>
          <a:custGeom>
            <a:avLst/>
            <a:gdLst/>
            <a:ahLst/>
            <a:cxnLst/>
            <a:rect l="l" t="t" r="r" b="b"/>
            <a:pathLst>
              <a:path w="285750" h="55937" extrusionOk="0">
                <a:moveTo>
                  <a:pt x="0" y="1"/>
                </a:moveTo>
                <a:lnTo>
                  <a:pt x="60" y="55936"/>
                </a:lnTo>
                <a:lnTo>
                  <a:pt x="285750" y="55936"/>
                </a:lnTo>
                <a:lnTo>
                  <a:pt x="285750" y="685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flipH="1">
            <a:off x="14050" y="2063475"/>
            <a:ext cx="9129952" cy="260129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-4775" y="4085689"/>
            <a:ext cx="3002297" cy="1077976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754051" y="4153551"/>
            <a:ext cx="2385215" cy="1004805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660575" y="411025"/>
            <a:ext cx="782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-202440" y="-259950"/>
            <a:ext cx="1145415" cy="10779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/>
          <p:nvPr/>
        </p:nvSpPr>
        <p:spPr>
          <a:xfrm flipH="1">
            <a:off x="-4734" y="2707362"/>
            <a:ext cx="9144000" cy="2518077"/>
          </a:xfrm>
          <a:custGeom>
            <a:avLst/>
            <a:gdLst/>
            <a:ahLst/>
            <a:cxnLst/>
            <a:rect l="l" t="t" r="r" b="b"/>
            <a:pathLst>
              <a:path w="285750" h="91357" extrusionOk="0">
                <a:moveTo>
                  <a:pt x="53900" y="0"/>
                </a:moveTo>
                <a:cubicBezTo>
                  <a:pt x="53900" y="0"/>
                  <a:pt x="47780" y="2834"/>
                  <a:pt x="52518" y="4763"/>
                </a:cubicBezTo>
                <a:lnTo>
                  <a:pt x="72759" y="11311"/>
                </a:lnTo>
                <a:cubicBezTo>
                  <a:pt x="74593" y="11728"/>
                  <a:pt x="75938" y="12847"/>
                  <a:pt x="75807" y="14109"/>
                </a:cubicBezTo>
                <a:cubicBezTo>
                  <a:pt x="75617" y="15871"/>
                  <a:pt x="72973" y="16288"/>
                  <a:pt x="70723" y="16466"/>
                </a:cubicBezTo>
                <a:cubicBezTo>
                  <a:pt x="63870" y="17041"/>
                  <a:pt x="55702" y="17402"/>
                  <a:pt x="46703" y="17402"/>
                </a:cubicBezTo>
                <a:cubicBezTo>
                  <a:pt x="32563" y="17402"/>
                  <a:pt x="16370" y="16509"/>
                  <a:pt x="0" y="14145"/>
                </a:cubicBezTo>
                <a:lnTo>
                  <a:pt x="0" y="14145"/>
                </a:lnTo>
                <a:lnTo>
                  <a:pt x="60" y="91357"/>
                </a:lnTo>
                <a:lnTo>
                  <a:pt x="285750" y="91357"/>
                </a:lnTo>
                <a:lnTo>
                  <a:pt x="285750" y="3929"/>
                </a:lnTo>
                <a:cubicBezTo>
                  <a:pt x="281561" y="3972"/>
                  <a:pt x="277371" y="4113"/>
                  <a:pt x="273429" y="4113"/>
                </a:cubicBezTo>
                <a:cubicBezTo>
                  <a:pt x="273013" y="4113"/>
                  <a:pt x="272599" y="4111"/>
                  <a:pt x="272189" y="4108"/>
                </a:cubicBezTo>
                <a:cubicBezTo>
                  <a:pt x="260997" y="4013"/>
                  <a:pt x="249817" y="3893"/>
                  <a:pt x="238625" y="3774"/>
                </a:cubicBezTo>
                <a:lnTo>
                  <a:pt x="171974" y="3120"/>
                </a:lnTo>
                <a:cubicBezTo>
                  <a:pt x="146995" y="2870"/>
                  <a:pt x="78879" y="250"/>
                  <a:pt x="53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 flipH="1">
            <a:off x="0" y="257129"/>
            <a:ext cx="9129952" cy="2923424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14"/>
          <p:cNvSpPr/>
          <p:nvPr/>
        </p:nvSpPr>
        <p:spPr>
          <a:xfrm>
            <a:off x="-224" y="3470112"/>
            <a:ext cx="9144000" cy="1755328"/>
          </a:xfrm>
          <a:custGeom>
            <a:avLst/>
            <a:gdLst/>
            <a:ahLst/>
            <a:cxnLst/>
            <a:rect l="l" t="t" r="r" b="b"/>
            <a:pathLst>
              <a:path w="285750" h="91357" extrusionOk="0">
                <a:moveTo>
                  <a:pt x="53900" y="0"/>
                </a:moveTo>
                <a:cubicBezTo>
                  <a:pt x="53900" y="0"/>
                  <a:pt x="47780" y="2834"/>
                  <a:pt x="52518" y="4763"/>
                </a:cubicBezTo>
                <a:lnTo>
                  <a:pt x="72759" y="11311"/>
                </a:lnTo>
                <a:cubicBezTo>
                  <a:pt x="74593" y="11728"/>
                  <a:pt x="75938" y="12847"/>
                  <a:pt x="75807" y="14109"/>
                </a:cubicBezTo>
                <a:cubicBezTo>
                  <a:pt x="75617" y="15871"/>
                  <a:pt x="72973" y="16288"/>
                  <a:pt x="70723" y="16466"/>
                </a:cubicBezTo>
                <a:cubicBezTo>
                  <a:pt x="63870" y="17041"/>
                  <a:pt x="55702" y="17402"/>
                  <a:pt x="46703" y="17402"/>
                </a:cubicBezTo>
                <a:cubicBezTo>
                  <a:pt x="32563" y="17402"/>
                  <a:pt x="16370" y="16509"/>
                  <a:pt x="0" y="14145"/>
                </a:cubicBezTo>
                <a:lnTo>
                  <a:pt x="0" y="14145"/>
                </a:lnTo>
                <a:lnTo>
                  <a:pt x="60" y="91357"/>
                </a:lnTo>
                <a:lnTo>
                  <a:pt x="285750" y="91357"/>
                </a:lnTo>
                <a:lnTo>
                  <a:pt x="285750" y="3929"/>
                </a:lnTo>
                <a:cubicBezTo>
                  <a:pt x="281561" y="3972"/>
                  <a:pt x="277371" y="4113"/>
                  <a:pt x="273429" y="4113"/>
                </a:cubicBezTo>
                <a:cubicBezTo>
                  <a:pt x="273013" y="4113"/>
                  <a:pt x="272599" y="4111"/>
                  <a:pt x="272189" y="4108"/>
                </a:cubicBezTo>
                <a:cubicBezTo>
                  <a:pt x="260997" y="4013"/>
                  <a:pt x="249817" y="3893"/>
                  <a:pt x="238625" y="3774"/>
                </a:cubicBezTo>
                <a:lnTo>
                  <a:pt x="171974" y="3120"/>
                </a:lnTo>
                <a:cubicBezTo>
                  <a:pt x="146995" y="2870"/>
                  <a:pt x="78879" y="250"/>
                  <a:pt x="53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-9244" y="4147463"/>
            <a:ext cx="3002297" cy="1077976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14"/>
          <p:cNvSpPr/>
          <p:nvPr/>
        </p:nvSpPr>
        <p:spPr>
          <a:xfrm>
            <a:off x="6754051" y="4147463"/>
            <a:ext cx="2385215" cy="1077976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8328150" y="-442175"/>
            <a:ext cx="1426500" cy="142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 flipH="1">
            <a:off x="5082600" y="1245650"/>
            <a:ext cx="3348000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 flipH="1">
            <a:off x="5082600" y="3408675"/>
            <a:ext cx="27225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 idx="2" hasCustomPrompt="1"/>
          </p:nvPr>
        </p:nvSpPr>
        <p:spPr>
          <a:xfrm>
            <a:off x="1149784" y="781252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 flipH="1">
            <a:off x="7025" y="2970262"/>
            <a:ext cx="9144000" cy="2192520"/>
          </a:xfrm>
          <a:custGeom>
            <a:avLst/>
            <a:gdLst/>
            <a:ahLst/>
            <a:cxnLst/>
            <a:rect l="l" t="t" r="r" b="b"/>
            <a:pathLst>
              <a:path w="285750" h="55937" extrusionOk="0">
                <a:moveTo>
                  <a:pt x="0" y="1"/>
                </a:moveTo>
                <a:lnTo>
                  <a:pt x="60" y="55936"/>
                </a:lnTo>
                <a:lnTo>
                  <a:pt x="285750" y="55936"/>
                </a:lnTo>
                <a:lnTo>
                  <a:pt x="285750" y="685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"/>
          <p:cNvSpPr/>
          <p:nvPr/>
        </p:nvSpPr>
        <p:spPr>
          <a:xfrm flipH="1">
            <a:off x="14050" y="2063475"/>
            <a:ext cx="9129952" cy="260129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8328150" y="-442175"/>
            <a:ext cx="1426500" cy="142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title"/>
          </p:nvPr>
        </p:nvSpPr>
        <p:spPr>
          <a:xfrm>
            <a:off x="758775" y="41103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title" idx="2"/>
          </p:nvPr>
        </p:nvSpPr>
        <p:spPr>
          <a:xfrm>
            <a:off x="5668339" y="1426575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title" idx="3"/>
          </p:nvPr>
        </p:nvSpPr>
        <p:spPr>
          <a:xfrm>
            <a:off x="5668311" y="1820775"/>
            <a:ext cx="2369100" cy="7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title" idx="4"/>
          </p:nvPr>
        </p:nvSpPr>
        <p:spPr>
          <a:xfrm>
            <a:off x="1755461" y="1426575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title" idx="5"/>
          </p:nvPr>
        </p:nvSpPr>
        <p:spPr>
          <a:xfrm>
            <a:off x="1755436" y="1820775"/>
            <a:ext cx="2369100" cy="7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title" idx="6"/>
          </p:nvPr>
        </p:nvSpPr>
        <p:spPr>
          <a:xfrm>
            <a:off x="5668339" y="2970262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title" idx="7"/>
          </p:nvPr>
        </p:nvSpPr>
        <p:spPr>
          <a:xfrm>
            <a:off x="5668311" y="3333225"/>
            <a:ext cx="2369100" cy="8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title" idx="8"/>
          </p:nvPr>
        </p:nvSpPr>
        <p:spPr>
          <a:xfrm>
            <a:off x="1755461" y="2970262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title" idx="9"/>
          </p:nvPr>
        </p:nvSpPr>
        <p:spPr>
          <a:xfrm>
            <a:off x="1755436" y="3333225"/>
            <a:ext cx="2369100" cy="8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5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1"/>
          <p:cNvGrpSpPr/>
          <p:nvPr/>
        </p:nvGrpSpPr>
        <p:grpSpPr>
          <a:xfrm>
            <a:off x="-40575" y="1229425"/>
            <a:ext cx="9184500" cy="3941168"/>
            <a:chOff x="-40575" y="1229425"/>
            <a:chExt cx="9184500" cy="3941168"/>
          </a:xfrm>
        </p:grpSpPr>
        <p:sp>
          <p:nvSpPr>
            <p:cNvPr id="325" name="Google Shape;325;p31"/>
            <p:cNvSpPr/>
            <p:nvPr/>
          </p:nvSpPr>
          <p:spPr>
            <a:xfrm flipH="1">
              <a:off x="-40575" y="1229425"/>
              <a:ext cx="9177742" cy="227001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1"/>
            <p:cNvSpPr/>
            <p:nvPr/>
          </p:nvSpPr>
          <p:spPr>
            <a:xfrm flipH="1">
              <a:off x="-75" y="2042530"/>
              <a:ext cx="9144000" cy="3127997"/>
            </a:xfrm>
            <a:custGeom>
              <a:avLst/>
              <a:gdLst/>
              <a:ahLst/>
              <a:cxnLst/>
              <a:rect l="l" t="t" r="r" b="b"/>
              <a:pathLst>
                <a:path w="285750" h="55937" extrusionOk="0">
                  <a:moveTo>
                    <a:pt x="0" y="1"/>
                  </a:moveTo>
                  <a:lnTo>
                    <a:pt x="60" y="55936"/>
                  </a:lnTo>
                  <a:lnTo>
                    <a:pt x="285750" y="55936"/>
                  </a:lnTo>
                  <a:lnTo>
                    <a:pt x="285750" y="68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1"/>
            <p:cNvSpPr/>
            <p:nvPr/>
          </p:nvSpPr>
          <p:spPr>
            <a:xfrm flipH="1">
              <a:off x="-6088" y="4270353"/>
              <a:ext cx="1849652" cy="900240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31"/>
          <p:cNvSpPr txBox="1">
            <a:spLocks noGrp="1"/>
          </p:cNvSpPr>
          <p:nvPr>
            <p:ph type="ctrTitle"/>
          </p:nvPr>
        </p:nvSpPr>
        <p:spPr>
          <a:xfrm>
            <a:off x="708550" y="668900"/>
            <a:ext cx="47571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subTitle" idx="1"/>
          </p:nvPr>
        </p:nvSpPr>
        <p:spPr>
          <a:xfrm>
            <a:off x="708550" y="1691324"/>
            <a:ext cx="4757100" cy="14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32"/>
          <p:cNvGrpSpPr/>
          <p:nvPr/>
        </p:nvGrpSpPr>
        <p:grpSpPr>
          <a:xfrm>
            <a:off x="-40575" y="410275"/>
            <a:ext cx="9184500" cy="4760318"/>
            <a:chOff x="-40575" y="410275"/>
            <a:chExt cx="9184500" cy="4760318"/>
          </a:xfrm>
        </p:grpSpPr>
        <p:sp>
          <p:nvSpPr>
            <p:cNvPr id="336" name="Google Shape;336;p32"/>
            <p:cNvSpPr/>
            <p:nvPr/>
          </p:nvSpPr>
          <p:spPr>
            <a:xfrm flipH="1">
              <a:off x="-40575" y="410275"/>
              <a:ext cx="9177742" cy="227001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 flipH="1">
              <a:off x="-75" y="2042530"/>
              <a:ext cx="9144000" cy="3127997"/>
            </a:xfrm>
            <a:custGeom>
              <a:avLst/>
              <a:gdLst/>
              <a:ahLst/>
              <a:cxnLst/>
              <a:rect l="l" t="t" r="r" b="b"/>
              <a:pathLst>
                <a:path w="285750" h="55937" extrusionOk="0">
                  <a:moveTo>
                    <a:pt x="0" y="1"/>
                  </a:moveTo>
                  <a:lnTo>
                    <a:pt x="60" y="55936"/>
                  </a:lnTo>
                  <a:lnTo>
                    <a:pt x="285750" y="55936"/>
                  </a:lnTo>
                  <a:lnTo>
                    <a:pt x="285750" y="68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 flipH="1">
              <a:off x="0" y="4270353"/>
              <a:ext cx="1849652" cy="900240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3"/>
          <p:cNvGrpSpPr/>
          <p:nvPr/>
        </p:nvGrpSpPr>
        <p:grpSpPr>
          <a:xfrm>
            <a:off x="-40575" y="1229425"/>
            <a:ext cx="9184575" cy="3914112"/>
            <a:chOff x="-40575" y="1229425"/>
            <a:chExt cx="9184575" cy="3914112"/>
          </a:xfrm>
        </p:grpSpPr>
        <p:sp>
          <p:nvSpPr>
            <p:cNvPr id="344" name="Google Shape;344;p33"/>
            <p:cNvSpPr/>
            <p:nvPr/>
          </p:nvSpPr>
          <p:spPr>
            <a:xfrm>
              <a:off x="0" y="2732373"/>
              <a:ext cx="9144000" cy="2411164"/>
            </a:xfrm>
            <a:custGeom>
              <a:avLst/>
              <a:gdLst/>
              <a:ahLst/>
              <a:cxnLst/>
              <a:rect l="l" t="t" r="r" b="b"/>
              <a:pathLst>
                <a:path w="285750" h="55937" extrusionOk="0">
                  <a:moveTo>
                    <a:pt x="0" y="1"/>
                  </a:moveTo>
                  <a:lnTo>
                    <a:pt x="60" y="55936"/>
                  </a:lnTo>
                  <a:lnTo>
                    <a:pt x="285750" y="55936"/>
                  </a:lnTo>
                  <a:lnTo>
                    <a:pt x="285750" y="68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 flipH="1">
              <a:off x="-40575" y="1229425"/>
              <a:ext cx="9177742" cy="227001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411032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○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○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○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8" r:id="rId5"/>
    <p:sldLayoutId id="2147483660" r:id="rId6"/>
    <p:sldLayoutId id="2147483673" r:id="rId7"/>
    <p:sldLayoutId id="2147483677" r:id="rId8"/>
    <p:sldLayoutId id="2147483678" r:id="rId9"/>
    <p:sldLayoutId id="214748367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/>
          <p:nvPr/>
        </p:nvSpPr>
        <p:spPr>
          <a:xfrm>
            <a:off x="6241775" y="847725"/>
            <a:ext cx="2708331" cy="29622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p37"/>
          <p:cNvSpPr/>
          <p:nvPr/>
        </p:nvSpPr>
        <p:spPr>
          <a:xfrm rot="5400000">
            <a:off x="2194998" y="1286048"/>
            <a:ext cx="738330" cy="512832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7"/>
          <p:cNvSpPr txBox="1">
            <a:spLocks noGrp="1"/>
          </p:cNvSpPr>
          <p:nvPr>
            <p:ph type="ctrTitle"/>
          </p:nvPr>
        </p:nvSpPr>
        <p:spPr>
          <a:xfrm>
            <a:off x="204005" y="260195"/>
            <a:ext cx="5331549" cy="23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800" dirty="0">
                <a:solidFill>
                  <a:srgbClr val="161613"/>
                </a:solidFill>
                <a:latin typeface="Dancing Script" panose="020B0604020202020204" charset="0"/>
                <a:ea typeface="DM Sans Medium" pitchFamily="34" charset="-122"/>
                <a:cs typeface="DM Sans Medium" pitchFamily="34" charset="-120"/>
              </a:rPr>
              <a:t>AstroSage Call Center </a:t>
            </a:r>
            <a:r>
              <a:rPr lang="en-US" sz="4800" dirty="0">
                <a:solidFill>
                  <a:schemeClr val="bg1"/>
                </a:solidFill>
                <a:latin typeface="Dancing Script" panose="020B0604020202020204" charset="0"/>
                <a:ea typeface="DM Sans Medium" pitchFamily="34" charset="-122"/>
                <a:cs typeface="DM Sans Medium" pitchFamily="34" charset="-120"/>
              </a:rPr>
              <a:t>Performance </a:t>
            </a:r>
            <a:r>
              <a:rPr lang="en-US" sz="4800" dirty="0">
                <a:solidFill>
                  <a:schemeClr val="bg1"/>
                </a:solidFill>
                <a:latin typeface="Dancing Script" panose="020B0604020202020204" charset="0"/>
              </a:rPr>
              <a:t>Analysis</a:t>
            </a:r>
            <a:br>
              <a:rPr lang="en-US" sz="4800" dirty="0">
                <a:latin typeface="Dancing Script" panose="020B0604020202020204" charset="0"/>
              </a:rPr>
            </a:br>
            <a:endParaRPr sz="4800" dirty="0">
              <a:latin typeface="Dancing Script" panose="020B0604020202020204" charset="0"/>
              <a:ea typeface="Avenir"/>
              <a:cs typeface="Avenir"/>
              <a:sym typeface="Avenir"/>
            </a:endParaRPr>
          </a:p>
        </p:txBody>
      </p:sp>
      <p:sp>
        <p:nvSpPr>
          <p:cNvPr id="417" name="Google Shape;417;p37"/>
          <p:cNvSpPr txBox="1">
            <a:spLocks noGrp="1"/>
          </p:cNvSpPr>
          <p:nvPr>
            <p:ph type="subTitle" idx="1"/>
          </p:nvPr>
        </p:nvSpPr>
        <p:spPr>
          <a:xfrm>
            <a:off x="197117" y="3527826"/>
            <a:ext cx="4969309" cy="825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>
                <a:solidFill>
                  <a:srgbClr val="161613"/>
                </a:solidFill>
                <a:latin typeface="+mn-lt"/>
                <a:ea typeface="Inter" pitchFamily="34" charset="-122"/>
                <a:cs typeface="Inter" pitchFamily="34" charset="-120"/>
              </a:rPr>
              <a:t>Detailed analysis of key call center metrics including call volume, resolution rates, and customer satisfaction for December 2023 - January 2024.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+mn-lt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125" y="4001744"/>
            <a:ext cx="3166341" cy="1136877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subTitle" idx="2"/>
          </p:nvPr>
        </p:nvSpPr>
        <p:spPr>
          <a:xfrm>
            <a:off x="0" y="2306470"/>
            <a:ext cx="5496901" cy="9598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800" dirty="0"/>
              <a:t>Optimizing Operations with Data-Driven Insights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20" name="Google Shape;420;p37"/>
          <p:cNvSpPr/>
          <p:nvPr/>
        </p:nvSpPr>
        <p:spPr>
          <a:xfrm>
            <a:off x="4141725" y="4917449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FABDE-6969-383E-727D-ABA5C6A7E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924" y="723740"/>
            <a:ext cx="2890031" cy="3158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/>
          <p:nvPr/>
        </p:nvSpPr>
        <p:spPr>
          <a:xfrm>
            <a:off x="706629" y="244305"/>
            <a:ext cx="1137900" cy="1137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/>
          <p:cNvSpPr txBox="1">
            <a:spLocks noGrp="1"/>
          </p:cNvSpPr>
          <p:nvPr>
            <p:ph type="title"/>
          </p:nvPr>
        </p:nvSpPr>
        <p:spPr>
          <a:xfrm>
            <a:off x="0" y="1888800"/>
            <a:ext cx="9267825" cy="11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/>
              <a:t>Introduction and Data Overview</a:t>
            </a:r>
            <a:endParaRPr sz="5400" dirty="0"/>
          </a:p>
        </p:txBody>
      </p:sp>
      <p:sp>
        <p:nvSpPr>
          <p:cNvPr id="466" name="Google Shape;466;p40"/>
          <p:cNvSpPr txBox="1">
            <a:spLocks noGrp="1"/>
          </p:cNvSpPr>
          <p:nvPr>
            <p:ph type="title" idx="2"/>
          </p:nvPr>
        </p:nvSpPr>
        <p:spPr>
          <a:xfrm>
            <a:off x="706629" y="426855"/>
            <a:ext cx="11379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3" name="Google Shape;563;p40"/>
          <p:cNvSpPr/>
          <p:nvPr/>
        </p:nvSpPr>
        <p:spPr>
          <a:xfrm>
            <a:off x="4279975" y="4161949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/>
          <p:cNvSpPr/>
          <p:nvPr/>
        </p:nvSpPr>
        <p:spPr>
          <a:xfrm>
            <a:off x="2774625" y="4789099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/>
          <p:cNvSpPr/>
          <p:nvPr/>
        </p:nvSpPr>
        <p:spPr>
          <a:xfrm flipH="1">
            <a:off x="-4536" y="4067625"/>
            <a:ext cx="2560231" cy="1078533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/>
          <p:cNvSpPr txBox="1">
            <a:spLocks noGrp="1"/>
          </p:cNvSpPr>
          <p:nvPr>
            <p:ph type="title"/>
          </p:nvPr>
        </p:nvSpPr>
        <p:spPr>
          <a:xfrm>
            <a:off x="608475" y="11997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/>
              <a:t>Introduction</a:t>
            </a:r>
            <a:endParaRPr sz="4400" dirty="0"/>
          </a:p>
        </p:txBody>
      </p:sp>
      <p:sp>
        <p:nvSpPr>
          <p:cNvPr id="426" name="Google Shape;426;p38"/>
          <p:cNvSpPr txBox="1">
            <a:spLocks noGrp="1"/>
          </p:cNvSpPr>
          <p:nvPr>
            <p:ph type="body" idx="1"/>
          </p:nvPr>
        </p:nvSpPr>
        <p:spPr>
          <a:xfrm>
            <a:off x="713250" y="942509"/>
            <a:ext cx="7717500" cy="3746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Aptos" panose="020B0004020202020204" pitchFamily="34" charset="0"/>
                <a:ea typeface="Telegraf"/>
                <a:cs typeface="Telegraf"/>
                <a:sym typeface="Telegraf"/>
              </a:rPr>
              <a:t>Problem Statement: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900" b="1" dirty="0">
              <a:latin typeface="Aptos" panose="020B0004020202020204" pitchFamily="34" charset="0"/>
              <a:ea typeface="Telegraf"/>
              <a:cs typeface="Telegraf"/>
              <a:sym typeface="Telegraf"/>
            </a:endParaRP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ea typeface="Telegraf"/>
                <a:cs typeface="Telegraf"/>
                <a:sym typeface="Telegraf"/>
              </a:rPr>
              <a:t>Astro-sage is a website and app mostly used by Hindus that provides astrology services, including horoscope matching, birth chart generation, and AI astrologers.</a:t>
            </a:r>
          </a:p>
          <a:p>
            <a:pPr marL="0" indent="0">
              <a:buNone/>
            </a:pPr>
            <a:r>
              <a:rPr lang="en-US" altLang="en-US" sz="1600" dirty="0" err="1">
                <a:solidFill>
                  <a:schemeClr val="tx1"/>
                </a:solidFill>
                <a:latin typeface="Aptos" panose="020B0004020202020204" pitchFamily="34" charset="0"/>
              </a:rPr>
              <a:t>Astrosage’s</a:t>
            </a: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call center recently received a ₹1 crore investment. The Goal is to </a:t>
            </a:r>
            <a:r>
              <a:rPr lang="en-US" alt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maximize operational efficiency, customer satisfaction, and profitability.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sz="2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1"/>
                </a:solidFill>
                <a:latin typeface="Aptos" panose="020B0004020202020204" pitchFamily="34" charset="0"/>
              </a:rPr>
              <a:t>Challenges identified: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Uneven workload among agents.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Rising repeat calls.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Varying customer satisfaction across platforms.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Need to identify where to allocate investment effectively.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  <a:ea typeface="Telegraf"/>
              <a:cs typeface="Telegraf"/>
              <a:sym typeface="Telegraf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  <a:ea typeface="Telegraf"/>
              <a:cs typeface="Telegraf"/>
              <a:sym typeface="Telegraf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>
            <a:spLocks noGrp="1"/>
          </p:cNvSpPr>
          <p:nvPr>
            <p:ph type="title"/>
          </p:nvPr>
        </p:nvSpPr>
        <p:spPr>
          <a:xfrm>
            <a:off x="660600" y="77650"/>
            <a:ext cx="782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/>
              <a:t>Data Overview</a:t>
            </a:r>
            <a:endParaRPr sz="4400" dirty="0"/>
          </a:p>
        </p:txBody>
      </p:sp>
      <p:sp>
        <p:nvSpPr>
          <p:cNvPr id="572" name="Google Shape;572;p41"/>
          <p:cNvSpPr txBox="1"/>
          <p:nvPr/>
        </p:nvSpPr>
        <p:spPr>
          <a:xfrm>
            <a:off x="660600" y="1405472"/>
            <a:ext cx="8302425" cy="282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Source: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AstroSage Call Center system logs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Size: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28,028 consultation records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Attributes:</a:t>
            </a:r>
            <a:r>
              <a:rPr lang="en-IN" sz="1600" dirty="0">
                <a:latin typeface="Aptos" panose="020B0004020202020204" pitchFamily="34" charset="0"/>
              </a:rPr>
              <a:t>The dataset contains 30 attributes. These attributes include identifiers (ids), categorical fields (agent, guru, product), numeric fields (call duration, sale amount, </a:t>
            </a:r>
            <a:r>
              <a:rPr lang="en-IN" sz="1600" dirty="0" err="1">
                <a:latin typeface="Aptos" panose="020B0004020202020204" pitchFamily="34" charset="0"/>
              </a:rPr>
              <a:t>csat</a:t>
            </a:r>
            <a:r>
              <a:rPr lang="en-IN" sz="1600" dirty="0">
                <a:latin typeface="Aptos" panose="020B0004020202020204" pitchFamily="34" charset="0"/>
              </a:rPr>
              <a:t>), and time-based fields (date, time).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Time Period Covered: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December 2023 – January 2024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Scope of Analysis:</a:t>
            </a:r>
            <a:endParaRPr lang="en-US" sz="16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User behavior (repeat vs new callers)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Guru performance &amp; workload distribution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Call outcomes (completed, failed, busy, no-answer)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Revenue generation by service type (Calls, Chats, Live Sessions)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Customer satisfaction (CSAT ratings)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ptos" panose="020B0004020202020204" pitchFamily="34" charset="0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/>
          <p:cNvSpPr txBox="1">
            <a:spLocks noGrp="1"/>
          </p:cNvSpPr>
          <p:nvPr>
            <p:ph type="title"/>
          </p:nvPr>
        </p:nvSpPr>
        <p:spPr>
          <a:xfrm flipH="1">
            <a:off x="1605708" y="1388500"/>
            <a:ext cx="6661991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Analysis and Insights</a:t>
            </a:r>
            <a:endParaRPr dirty="0"/>
          </a:p>
        </p:txBody>
      </p:sp>
      <p:sp>
        <p:nvSpPr>
          <p:cNvPr id="807" name="Google Shape;807;p45"/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/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/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2EF40871-8C6B-C3ED-FC37-C4B3B06E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6E705933-C60E-DC42-0D4E-256D4E3E0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700" y="16806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Q1) Where is the User Base coming from ?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5A48AE68-9DD3-B67C-AB96-632F5E7FB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7975" y="1368926"/>
            <a:ext cx="3982575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Majority of users come from </a:t>
            </a:r>
            <a:r>
              <a:rPr lang="en-US" sz="1600" b="1" dirty="0" err="1">
                <a:solidFill>
                  <a:schemeClr val="tx1"/>
                </a:solidFill>
                <a:latin typeface="Aptos" panose="020B0004020202020204" pitchFamily="34" charset="0"/>
              </a:rPr>
              <a:t>Gurucool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(72%),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followed by the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App (28%),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while the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dashboard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is barely used – showing a clear preference for mobile and platform-first access.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3A1AF4FF-4539-162E-4A97-3959F2BAA25C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6AD4F-BBDB-7270-3D2E-59011733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77" y="1368926"/>
            <a:ext cx="3515848" cy="230772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44131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C088076B-F74C-612C-CE3C-2B473777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CE1DCE33-EE85-091E-18E9-7119112B0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53651" y="129966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Q2) What are Call Outcomes?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C88A945C-01CA-996F-140A-F4BFE93C1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6550" y="1347661"/>
            <a:ext cx="4354050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41% calls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are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completed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but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14% failed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20%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remained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unanswered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This suggests call handling efficiency can be improved. And should focus on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Call Completion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with a positive resolution 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User Satisfaction.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30DF14F0-2765-9981-BADA-F00CAABF084D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FD3E5-E112-1BFA-3EF1-7A7BB8BB0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075" y="1244101"/>
            <a:ext cx="3211813" cy="213727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61810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B034C310-2D0A-E7BC-012D-BDE517D4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E0B7CF0D-2566-7068-E1BB-899DFA331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53651" y="129966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Q3) What are Chat Outcomes?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24F7A896-D800-866D-E34C-917D262CD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495" y="1328611"/>
            <a:ext cx="4354050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28% of Chats are Completed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37% failed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34% are incomplete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Chat efficiency still has room for improvement, especially in the domain of chat completion.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6266B22F-03A5-7B57-2B29-F8ECBE494764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40325-EC68-D7F8-D5E7-9E73CA88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075" y="1225049"/>
            <a:ext cx="3214430" cy="226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4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B03052C8-3DEF-C056-8FB6-B5EC5E49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A7303C27-93DB-DEC9-7F31-BC31860A25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699" y="168066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Q4) Which Consultation Type leads Revenue?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81B9976A-2CA9-D296-2AF5-CF7CAF3ED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825" y="1347661"/>
            <a:ext cx="4391776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Calls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generate the highest revenue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(₹1.68 lakh)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followed by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Chats (₹45k). Public live calls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barely adds contribution.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Complementary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sessions bring no direct revenue.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363CDFD6-57A5-FCC1-5CC0-AAC67D33EC85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4D7AE-13EB-1450-835F-D3B3FA5F6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451" y="1347661"/>
            <a:ext cx="3486524" cy="2233739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4388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58B4C3B9-D9B3-23E0-5AD6-B0B20E9D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441258C7-CC21-7801-1A53-A208BC092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96451" y="158541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Q5) What's the Daily Call Volume?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1B61AAED-FAA8-0C4A-FBA8-A12F76243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5119" y="1347661"/>
            <a:ext cx="3016167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Call volumes fluctuate between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150–450 daily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Noticeable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dips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are seen around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mid-December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possibly due to seasonality. Should work on the entire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Call infrastructure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to maximize the daily calls after the huge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1 Cr Investment.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18000F0A-C90F-9956-DC60-0B7288ADB96F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2F92E-903D-21C1-58AF-51A7813B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4" y="1395286"/>
            <a:ext cx="5092617" cy="213852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43354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9CDCBFF5-0010-D0B3-0AB4-01E13582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99DF2DC2-B2C8-6318-96A9-51A27AC39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20252" y="149016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Q6) What's the Hourly Call Volume?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233880E9-B4E4-B7EE-039E-BE1FF3B46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5118" y="1438117"/>
            <a:ext cx="3016167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Peak activity is between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7 AM – 4 PM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with the Highest volume around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7-11AM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This is the critical area for resource allocation.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D07CE7A0-46B5-1BCB-4AC1-139B6809CC7C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2D8E0-73B8-0C8E-171E-03E91D9A8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38117"/>
            <a:ext cx="4815215" cy="226726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30929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83796893-1CA2-A6B2-B7CB-403C11AD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2B9F2509-0A30-00D6-4030-56F4E2B2F0CA}"/>
              </a:ext>
            </a:extLst>
          </p:cNvPr>
          <p:cNvSpPr txBox="1"/>
          <p:nvPr/>
        </p:nvSpPr>
        <p:spPr>
          <a:xfrm>
            <a:off x="384376" y="1321861"/>
            <a:ext cx="3797099" cy="172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2000 – 2800 Users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rate between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0–3,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Very few ratings at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extremes (6-8).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This indicates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moderate customer satisfaction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which can be improved by investing in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customer issue resolution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which can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eventually increase the rating.</a:t>
            </a: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8C9F2EE6-0C6E-A9CA-FF6D-246785D19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5902" y="72816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Q7) What's the Rating of Users Experience?</a:t>
            </a:r>
            <a:endParaRPr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6ECF5-FA89-06DA-3244-B4BF55CEC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321861"/>
            <a:ext cx="4110271" cy="2499778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48737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48FA21A4-CB45-8E38-EE31-DF9DBF61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AF83F821-3DC6-7B2D-CFFF-6F065B88E5B9}"/>
              </a:ext>
            </a:extLst>
          </p:cNvPr>
          <p:cNvSpPr txBox="1"/>
          <p:nvPr/>
        </p:nvSpPr>
        <p:spPr>
          <a:xfrm>
            <a:off x="660600" y="1178986"/>
            <a:ext cx="3911400" cy="1956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Most gurus are rated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around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2–4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Very few achieve top ratings. This aligns with user distribution,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showing consistency in perception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and directs the need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for grooming sessions for under performing Gurus.</a:t>
            </a: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D2085AFC-3EC6-AD31-0864-DE66A8E1A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2816"/>
            <a:ext cx="835455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Q8) How many Ratings are achieved by Guru’s?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25D87-D61F-7805-6785-54F1F517D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6" y="1321861"/>
            <a:ext cx="3698620" cy="2499778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57025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D552DBED-9800-A880-0CF8-31D1BDC1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38267D54-7DCE-7A4D-1001-D9905BCEE243}"/>
              </a:ext>
            </a:extLst>
          </p:cNvPr>
          <p:cNvSpPr txBox="1"/>
          <p:nvPr/>
        </p:nvSpPr>
        <p:spPr>
          <a:xfrm>
            <a:off x="555826" y="1295401"/>
            <a:ext cx="3911400" cy="191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Astro </a:t>
            </a:r>
            <a:r>
              <a:rPr lang="en-US" sz="1600" b="1" dirty="0" err="1">
                <a:solidFill>
                  <a:schemeClr val="tx1"/>
                </a:solidFill>
                <a:latin typeface="Aptos" panose="020B0004020202020204" pitchFamily="34" charset="0"/>
              </a:rPr>
              <a:t>Pujaa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Rai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Tarot Mystical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lead the chart with the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Highest User Rating (7.5)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These top 2 together contribute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significantly to engagement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and the other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8 did fairly well.</a:t>
            </a: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814C0E5F-0EBC-9507-7976-B3A6EAB416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58402" y="66675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Q9) Who are the Top 10 Gurus?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0C8AD-7F6E-DF7A-2BD3-A9B1405A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183" y="1295401"/>
            <a:ext cx="3911400" cy="217728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497117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7E7F22BE-34AF-3F7D-322A-71E2C6AC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1D525A22-236D-CEE1-1CED-18FAA18D2F9A}"/>
              </a:ext>
            </a:extLst>
          </p:cNvPr>
          <p:cNvSpPr txBox="1"/>
          <p:nvPr/>
        </p:nvSpPr>
        <p:spPr>
          <a:xfrm>
            <a:off x="469257" y="1143558"/>
            <a:ext cx="8415037" cy="191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ptos" panose="020B0004020202020204" pitchFamily="34" charset="0"/>
              </a:rPr>
              <a:t>The KPI highlights key operational and performance insights of the call center. A total of </a:t>
            </a:r>
            <a:r>
              <a:rPr lang="en-US" sz="1600" b="1" dirty="0">
                <a:latin typeface="Aptos" panose="020B0004020202020204" pitchFamily="34" charset="0"/>
              </a:rPr>
              <a:t>8,508 calls</a:t>
            </a:r>
            <a:r>
              <a:rPr lang="en-US" sz="1600" dirty="0">
                <a:latin typeface="Aptos" panose="020B0004020202020204" pitchFamily="34" charset="0"/>
              </a:rPr>
              <a:t> were handled, supported by </a:t>
            </a:r>
            <a:r>
              <a:rPr lang="en-US" sz="1600" b="1" dirty="0">
                <a:latin typeface="Aptos" panose="020B0004020202020204" pitchFamily="34" charset="0"/>
              </a:rPr>
              <a:t>19,514 chats</a:t>
            </a:r>
            <a:r>
              <a:rPr lang="en-US" sz="1600" dirty="0">
                <a:latin typeface="Aptos" panose="020B0004020202020204" pitchFamily="34" charset="0"/>
              </a:rPr>
              <a:t>, showing a strong preference for chat-based interactions. The </a:t>
            </a:r>
            <a:r>
              <a:rPr lang="en-US" sz="1600" b="1" dirty="0">
                <a:latin typeface="Aptos" panose="020B0004020202020204" pitchFamily="34" charset="0"/>
              </a:rPr>
              <a:t>average daily call volume of 250</a:t>
            </a:r>
            <a:r>
              <a:rPr lang="en-US" sz="1600" dirty="0">
                <a:latin typeface="Aptos" panose="020B0004020202020204" pitchFamily="34" charset="0"/>
              </a:rPr>
              <a:t> reflects steady customer engagement, while the </a:t>
            </a:r>
            <a:r>
              <a:rPr lang="en-US" sz="1600" b="1" dirty="0">
                <a:latin typeface="Aptos" panose="020B0004020202020204" pitchFamily="34" charset="0"/>
              </a:rPr>
              <a:t>cost per call of ₹9.14</a:t>
            </a:r>
            <a:r>
              <a:rPr lang="en-US" sz="1600" dirty="0">
                <a:latin typeface="Aptos" panose="020B0004020202020204" pitchFamily="34" charset="0"/>
              </a:rPr>
              <a:t> indicates efficient operational management. However, </a:t>
            </a:r>
            <a:r>
              <a:rPr lang="en-US" sz="1600" b="1" dirty="0">
                <a:latin typeface="Aptos" panose="020B0004020202020204" pitchFamily="34" charset="0"/>
              </a:rPr>
              <a:t>56% repeat callers</a:t>
            </a:r>
            <a:r>
              <a:rPr lang="en-US" sz="1600" dirty="0">
                <a:latin typeface="Aptos" panose="020B0004020202020204" pitchFamily="34" charset="0"/>
              </a:rPr>
              <a:t> suggest recurring customer concerns that need attention to improve first-call resolution. The </a:t>
            </a:r>
            <a:r>
              <a:rPr lang="en-US" sz="1600" b="1" dirty="0">
                <a:latin typeface="Aptos" panose="020B0004020202020204" pitchFamily="34" charset="0"/>
              </a:rPr>
              <a:t>average rating of 2.9</a:t>
            </a:r>
            <a:r>
              <a:rPr lang="en-US" sz="1600" dirty="0">
                <a:latin typeface="Aptos" panose="020B0004020202020204" pitchFamily="34" charset="0"/>
              </a:rPr>
              <a:t> points to moderate satisfaction, emphasizing the need for better quality assurance, improved agent training, and enhanced service responsiveness.</a:t>
            </a:r>
            <a:endParaRPr lang="en-US" sz="16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6C1C5036-5D21-C04D-9C5C-3B057A482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51592" y="-257175"/>
            <a:ext cx="9000292" cy="1228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Q10) Which KPI’s were used in the Dashboard?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BAAC6-0F48-3038-17A6-80728E478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89" y="3410507"/>
            <a:ext cx="8588174" cy="589435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065107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F7CE4F22-3240-7EA4-286F-CF0232F9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0F0ECB4F-C0E0-A7B6-3877-94E694D17FA1}"/>
              </a:ext>
            </a:extLst>
          </p:cNvPr>
          <p:cNvSpPr txBox="1"/>
          <p:nvPr/>
        </p:nvSpPr>
        <p:spPr>
          <a:xfrm>
            <a:off x="378342" y="1450449"/>
            <a:ext cx="6016424" cy="191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ptos" panose="020B0004020202020204" pitchFamily="34" charset="0"/>
              </a:rPr>
              <a:t>The slicers add an interactive layer to the dashboard, allowing for </a:t>
            </a:r>
            <a:r>
              <a:rPr lang="en-US" sz="1600" b="1" dirty="0">
                <a:latin typeface="Aptos" panose="020B0004020202020204" pitchFamily="34" charset="0"/>
              </a:rPr>
              <a:t>dynamic data filtering and focused analysis</a:t>
            </a:r>
            <a:r>
              <a:rPr lang="en-US" sz="1600" dirty="0">
                <a:latin typeface="Aptos" panose="020B0004020202020204" pitchFamily="34" charset="0"/>
              </a:rPr>
              <a:t>. The </a:t>
            </a:r>
            <a:r>
              <a:rPr lang="en-US" sz="1600" b="1" dirty="0">
                <a:latin typeface="Aptos" panose="020B0004020202020204" pitchFamily="34" charset="0"/>
              </a:rPr>
              <a:t>Month and Year slicers</a:t>
            </a:r>
            <a:r>
              <a:rPr lang="en-US" sz="1600" dirty="0">
                <a:latin typeface="Aptos" panose="020B0004020202020204" pitchFamily="34" charset="0"/>
              </a:rPr>
              <a:t> enable tracking of performance trends across time,. The </a:t>
            </a:r>
            <a:r>
              <a:rPr lang="en-US" sz="1600" b="1" dirty="0">
                <a:latin typeface="Aptos" panose="020B0004020202020204" pitchFamily="34" charset="0"/>
              </a:rPr>
              <a:t>Website slicer (App, Dashboard, </a:t>
            </a:r>
            <a:r>
              <a:rPr lang="en-US" sz="1600" b="1" dirty="0" err="1">
                <a:latin typeface="Aptos" panose="020B0004020202020204" pitchFamily="34" charset="0"/>
              </a:rPr>
              <a:t>Gurucool</a:t>
            </a:r>
            <a:r>
              <a:rPr lang="en-US" sz="1600" b="1" dirty="0">
                <a:latin typeface="Aptos" panose="020B0004020202020204" pitchFamily="34" charset="0"/>
              </a:rPr>
              <a:t>) </a:t>
            </a:r>
            <a:r>
              <a:rPr lang="en-US" sz="1600" dirty="0">
                <a:latin typeface="Aptos" panose="020B0004020202020204" pitchFamily="34" charset="0"/>
              </a:rPr>
              <a:t>helps compare platform-wise performance in terms of calls, ratings, and satisfaction. The </a:t>
            </a:r>
            <a:r>
              <a:rPr lang="en-US" sz="1600" b="1" dirty="0">
                <a:latin typeface="Aptos" panose="020B0004020202020204" pitchFamily="34" charset="0"/>
              </a:rPr>
              <a:t>Consultation Type slicer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  <a:r>
              <a:rPr lang="en-US" sz="1600" b="1" dirty="0">
                <a:latin typeface="Aptos" panose="020B0004020202020204" pitchFamily="34" charset="0"/>
              </a:rPr>
              <a:t>(Call, Chat, Complementary, Public Live Call)</a:t>
            </a:r>
            <a:r>
              <a:rPr lang="en-US" sz="1600" dirty="0">
                <a:latin typeface="Aptos" panose="020B0004020202020204" pitchFamily="34" charset="0"/>
              </a:rPr>
              <a:t> allows users to isolate specific service modes for detailed analysis. Together, these slicers enhance </a:t>
            </a:r>
            <a:r>
              <a:rPr lang="en-US" sz="1600" b="1" dirty="0">
                <a:latin typeface="Aptos" panose="020B0004020202020204" pitchFamily="34" charset="0"/>
              </a:rPr>
              <a:t>data-driven decision-making</a:t>
            </a:r>
            <a:r>
              <a:rPr lang="en-US" sz="1600" dirty="0">
                <a:latin typeface="Aptos" panose="020B0004020202020204" pitchFamily="34" charset="0"/>
              </a:rPr>
              <a:t>.</a:t>
            </a:r>
            <a:endParaRPr lang="en-US" sz="16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21143E9A-2C83-FD32-6702-B4D97818C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1567" y="-238125"/>
            <a:ext cx="8666917" cy="1228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Q11) Which Slicers were used in the dashboard?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F9C92-7E9F-B3EF-1AEE-35A9D6621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990601"/>
            <a:ext cx="1133475" cy="3615022"/>
          </a:xfrm>
          <a:prstGeom prst="rect">
            <a:avLst/>
          </a:prstGeom>
          <a:ln w="762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14846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70E58F81-08E5-45C3-5306-12571C6B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>
            <a:extLst>
              <a:ext uri="{FF2B5EF4-FFF2-40B4-BE49-F238E27FC236}">
                <a16:creationId xmlns:a16="http://schemas.microsoft.com/office/drawing/2014/main" id="{A8BDB498-84BB-8E72-DE1F-E0FA9F532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519982" y="1388500"/>
            <a:ext cx="7420058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Dashboard Visualization</a:t>
            </a:r>
            <a:endParaRPr dirty="0"/>
          </a:p>
        </p:txBody>
      </p:sp>
      <p:sp>
        <p:nvSpPr>
          <p:cNvPr id="807" name="Google Shape;807;p45">
            <a:extLst>
              <a:ext uri="{FF2B5EF4-FFF2-40B4-BE49-F238E27FC236}">
                <a16:creationId xmlns:a16="http://schemas.microsoft.com/office/drawing/2014/main" id="{231C06F9-B4CF-06B2-768C-EE61481DC28E}"/>
              </a:ext>
            </a:extLst>
          </p:cNvPr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>
            <a:extLst>
              <a:ext uri="{FF2B5EF4-FFF2-40B4-BE49-F238E27FC236}">
                <a16:creationId xmlns:a16="http://schemas.microsoft.com/office/drawing/2014/main" id="{53782339-4404-3D0C-A210-ABCC5A240798}"/>
              </a:ext>
            </a:extLst>
          </p:cNvPr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>
            <a:extLst>
              <a:ext uri="{FF2B5EF4-FFF2-40B4-BE49-F238E27FC236}">
                <a16:creationId xmlns:a16="http://schemas.microsoft.com/office/drawing/2014/main" id="{53CDF140-F684-BFDA-C198-2CA97CE6D5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0758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0C24489C-585F-A69A-546B-6D3622D2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8069E-5201-E7B1-A604-6B1F193C9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1" y="95250"/>
            <a:ext cx="8924924" cy="495300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6469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AA75A77A-C065-E00E-07F5-C972C0AD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>
            <a:extLst>
              <a:ext uri="{FF2B5EF4-FFF2-40B4-BE49-F238E27FC236}">
                <a16:creationId xmlns:a16="http://schemas.microsoft.com/office/drawing/2014/main" id="{CB746001-2C76-8926-4C5E-1B448318D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149784" y="1388500"/>
            <a:ext cx="8279966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Strategic Recommendation</a:t>
            </a:r>
            <a:endParaRPr dirty="0"/>
          </a:p>
        </p:txBody>
      </p:sp>
      <p:sp>
        <p:nvSpPr>
          <p:cNvPr id="807" name="Google Shape;807;p45">
            <a:extLst>
              <a:ext uri="{FF2B5EF4-FFF2-40B4-BE49-F238E27FC236}">
                <a16:creationId xmlns:a16="http://schemas.microsoft.com/office/drawing/2014/main" id="{FF21B845-5C4A-4D51-093B-EBA0D45BC59D}"/>
              </a:ext>
            </a:extLst>
          </p:cNvPr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>
            <a:extLst>
              <a:ext uri="{FF2B5EF4-FFF2-40B4-BE49-F238E27FC236}">
                <a16:creationId xmlns:a16="http://schemas.microsoft.com/office/drawing/2014/main" id="{A4BFCC0C-B1B1-21E6-5A5B-01711906E3F6}"/>
              </a:ext>
            </a:extLst>
          </p:cNvPr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>
            <a:extLst>
              <a:ext uri="{FF2B5EF4-FFF2-40B4-BE49-F238E27FC236}">
                <a16:creationId xmlns:a16="http://schemas.microsoft.com/office/drawing/2014/main" id="{5DF53898-0A1E-2F42-D8B7-4151CE2C7E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4176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56"/>
          <p:cNvSpPr/>
          <p:nvPr/>
        </p:nvSpPr>
        <p:spPr>
          <a:xfrm>
            <a:off x="5860250" y="48425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C7D6D4-A75A-0EEE-62DD-6CE051DA7E04}"/>
              </a:ext>
            </a:extLst>
          </p:cNvPr>
          <p:cNvSpPr txBox="1"/>
          <p:nvPr/>
        </p:nvSpPr>
        <p:spPr>
          <a:xfrm>
            <a:off x="219075" y="171450"/>
            <a:ext cx="870585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900C802C-77C3-E872-FC7C-972A3ACC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286030"/>
            <a:ext cx="89463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Enhance Agent Performance through Training: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Average ratings (2.9) suggest the need for improved communication and problem-solving skills. Targeted training can help boost first-call resolution and reduce repeat calls (currently 56%).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Optimize Workforce Scheduling: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 the “Peak Call Periods” analysis to align agent availability with demand - increasing coverage during 6 AM–12 PM when call volume is highest and reducing idle time during low-traffic hours.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Focus on Platform Optimization: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Ratings indicate the Dashboard platform (4.5) performs best; insights from it should guide UX and support improvements in App (3.5)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Gurucool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(2.7) platforms to maintain consistent satisfaction across channels.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Leverage Technology and Automation: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Introduce chatbots and smart IVR systems to handle repetitive or simple queries -this can reduce workload, improve response times, and lower cost per call (₹9.14).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Customer Retention Initiatives: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Since repeat callers form a large portion of total calls, implement loyalty or personalized support programs to address recurring issues and enhance long-term satisfaction.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Continuous Monitoring through Dashboard: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 the slicers for time, website, and consultation type to continuously monitor trends, measure improvements, and quickly adapt strategies based on performance insights.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022FA2E-F5AE-D21E-11CA-9631F4ED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>
            <a:extLst>
              <a:ext uri="{FF2B5EF4-FFF2-40B4-BE49-F238E27FC236}">
                <a16:creationId xmlns:a16="http://schemas.microsoft.com/office/drawing/2014/main" id="{47F88A6C-A4EA-3929-A128-29BB92660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245034" y="1264675"/>
            <a:ext cx="8279966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Summarized Conclusion</a:t>
            </a:r>
            <a:endParaRPr dirty="0"/>
          </a:p>
        </p:txBody>
      </p:sp>
      <p:sp>
        <p:nvSpPr>
          <p:cNvPr id="807" name="Google Shape;807;p45">
            <a:extLst>
              <a:ext uri="{FF2B5EF4-FFF2-40B4-BE49-F238E27FC236}">
                <a16:creationId xmlns:a16="http://schemas.microsoft.com/office/drawing/2014/main" id="{5938E369-C4B4-7BDD-2D58-7BF332CAD3BE}"/>
              </a:ext>
            </a:extLst>
          </p:cNvPr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>
            <a:extLst>
              <a:ext uri="{FF2B5EF4-FFF2-40B4-BE49-F238E27FC236}">
                <a16:creationId xmlns:a16="http://schemas.microsoft.com/office/drawing/2014/main" id="{A0770B5F-4E1D-6B24-792F-BE204623B778}"/>
              </a:ext>
            </a:extLst>
          </p:cNvPr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>
            <a:extLst>
              <a:ext uri="{FF2B5EF4-FFF2-40B4-BE49-F238E27FC236}">
                <a16:creationId xmlns:a16="http://schemas.microsoft.com/office/drawing/2014/main" id="{AB10A5A7-BE8A-30E6-D9D4-BFCF668338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299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>
          <a:extLst>
            <a:ext uri="{FF2B5EF4-FFF2-40B4-BE49-F238E27FC236}">
              <a16:creationId xmlns:a16="http://schemas.microsoft.com/office/drawing/2014/main" id="{5825DC8C-415A-090E-7891-E3B3AD9C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04B3BE7-CCD5-313D-CC5A-C6D720BFA0C0}"/>
              </a:ext>
            </a:extLst>
          </p:cNvPr>
          <p:cNvSpPr txBox="1"/>
          <p:nvPr/>
        </p:nvSpPr>
        <p:spPr>
          <a:xfrm>
            <a:off x="304799" y="266700"/>
            <a:ext cx="844867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>
                <a:latin typeface="Aptos" panose="020B0004020202020204" pitchFamily="34" charset="0"/>
              </a:rPr>
              <a:t>The dashboard analysis reveals key operational patterns and improvement opportunities for the call center. With </a:t>
            </a:r>
            <a:r>
              <a:rPr lang="en-US" sz="1500" b="1" dirty="0">
                <a:latin typeface="Aptos" panose="020B0004020202020204" pitchFamily="34" charset="0"/>
              </a:rPr>
              <a:t>8,508 total calls</a:t>
            </a:r>
            <a:r>
              <a:rPr lang="en-US" sz="1500" dirty="0">
                <a:latin typeface="Aptos" panose="020B0004020202020204" pitchFamily="34" charset="0"/>
              </a:rPr>
              <a:t>, </a:t>
            </a:r>
            <a:r>
              <a:rPr lang="en-US" sz="1500" b="1" dirty="0">
                <a:latin typeface="Aptos" panose="020B0004020202020204" pitchFamily="34" charset="0"/>
              </a:rPr>
              <a:t>19,514 chats</a:t>
            </a:r>
            <a:r>
              <a:rPr lang="en-US" sz="1500" dirty="0">
                <a:latin typeface="Aptos" panose="020B0004020202020204" pitchFamily="34" charset="0"/>
              </a:rPr>
              <a:t>, and an </a:t>
            </a:r>
            <a:r>
              <a:rPr lang="en-US" sz="1500" b="1" dirty="0">
                <a:latin typeface="Aptos" panose="020B0004020202020204" pitchFamily="34" charset="0"/>
              </a:rPr>
              <a:t>average rating of 2.9</a:t>
            </a:r>
            <a:r>
              <a:rPr lang="en-US" sz="1500" dirty="0">
                <a:latin typeface="Aptos" panose="020B0004020202020204" pitchFamily="34" charset="0"/>
              </a:rPr>
              <a:t>, it is evident that customer satisfaction can be significantly improved through smarter workforce management and targeted training. The </a:t>
            </a:r>
            <a:r>
              <a:rPr lang="en-US" sz="1500" b="1" dirty="0">
                <a:latin typeface="Aptos" panose="020B0004020202020204" pitchFamily="34" charset="0"/>
              </a:rPr>
              <a:t>56% repeat caller rate</a:t>
            </a:r>
            <a:r>
              <a:rPr lang="en-US" sz="1500" dirty="0">
                <a:latin typeface="Aptos" panose="020B0004020202020204" pitchFamily="34" charset="0"/>
              </a:rPr>
              <a:t> indicates recurring issues that require better resolution quality and follow-up strategies.</a:t>
            </a:r>
          </a:p>
          <a:p>
            <a:endParaRPr lang="en-US" sz="6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>
                <a:latin typeface="Aptos" panose="020B0004020202020204" pitchFamily="34" charset="0"/>
              </a:rPr>
              <a:t>By leveraging insights from KPIs, peak hour trends, and platform-wise ratings, the call center can make data-driven decisions to enhance efficiency, reduce costs, and improve customer experience. Overall, focusing on </a:t>
            </a:r>
            <a:r>
              <a:rPr lang="en-US" sz="1500" b="1" dirty="0">
                <a:latin typeface="Aptos" panose="020B0004020202020204" pitchFamily="34" charset="0"/>
              </a:rPr>
              <a:t>agent development, technology integration, and customer-focused service enhancements</a:t>
            </a:r>
            <a:r>
              <a:rPr lang="en-US" sz="1500" dirty="0">
                <a:latin typeface="Aptos" panose="020B0004020202020204" pitchFamily="34" charset="0"/>
              </a:rPr>
              <a:t> will lead to higher satisfaction, optimized operations, and sustainable growth.</a:t>
            </a:r>
          </a:p>
        </p:txBody>
      </p:sp>
      <p:sp>
        <p:nvSpPr>
          <p:cNvPr id="2" name="Google Shape;805;p45">
            <a:extLst>
              <a:ext uri="{FF2B5EF4-FFF2-40B4-BE49-F238E27FC236}">
                <a16:creationId xmlns:a16="http://schemas.microsoft.com/office/drawing/2014/main" id="{463C495B-5E9B-F70D-A413-E3E282CE2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805607" y="3164390"/>
            <a:ext cx="7843093" cy="1619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4400" dirty="0"/>
              <a:t>"</a:t>
            </a:r>
            <a:r>
              <a:rPr lang="en-US" sz="2000" dirty="0"/>
              <a:t>Through the power of data-driven insights and strategic investments, AstroSage can turn existing inefficiencies into future strengths — shaping a call center that is efficient, customer-focused, and prepared for the challenges of tomorrow.</a:t>
            </a:r>
            <a:r>
              <a:rPr lang="en-US" sz="3600" dirty="0"/>
              <a:t>"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320883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71"/>
          <p:cNvSpPr txBox="1">
            <a:spLocks noGrp="1"/>
          </p:cNvSpPr>
          <p:nvPr>
            <p:ph type="ctrTitle"/>
          </p:nvPr>
        </p:nvSpPr>
        <p:spPr>
          <a:xfrm>
            <a:off x="1394698" y="736984"/>
            <a:ext cx="6354603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4098" name="Picture 2" descr="8+ Thousand Namaste Sign Royalty-Free Images, Stock Photos &amp; Pictures |  Shutterstock">
            <a:extLst>
              <a:ext uri="{FF2B5EF4-FFF2-40B4-BE49-F238E27FC236}">
                <a16:creationId xmlns:a16="http://schemas.microsoft.com/office/drawing/2014/main" id="{5BD4548A-D018-8330-17DC-FA63AC3954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3" t="7741" r="18762" b="8572"/>
          <a:stretch>
            <a:fillRect/>
          </a:stretch>
        </p:blipFill>
        <p:spPr bwMode="auto">
          <a:xfrm>
            <a:off x="3570916" y="2571750"/>
            <a:ext cx="2266950" cy="22319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 Arizona Stickers Theme for Social Media by Slidesgo">
  <a:themeElements>
    <a:clrScheme name="Simple Light">
      <a:dk1>
        <a:srgbClr val="360602"/>
      </a:dk1>
      <a:lt1>
        <a:srgbClr val="70292D"/>
      </a:lt1>
      <a:dk2>
        <a:srgbClr val="CE7856"/>
      </a:dk2>
      <a:lt2>
        <a:srgbClr val="ED6D52"/>
      </a:lt2>
      <a:accent1>
        <a:srgbClr val="ECB6A3"/>
      </a:accent1>
      <a:accent2>
        <a:srgbClr val="FADEBA"/>
      </a:accent2>
      <a:accent3>
        <a:srgbClr val="F8AD70"/>
      </a:accent3>
      <a:accent4>
        <a:srgbClr val="84967E"/>
      </a:accent4>
      <a:accent5>
        <a:srgbClr val="4E6845"/>
      </a:accent5>
      <a:accent6>
        <a:srgbClr val="FFFFFF"/>
      </a:accent6>
      <a:hlink>
        <a:srgbClr val="36060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1238</Words>
  <Application>Microsoft Office PowerPoint</Application>
  <PresentationFormat>On-screen Show (16:9)</PresentationFormat>
  <Paragraphs>97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Wingdings</vt:lpstr>
      <vt:lpstr>Dancing Script</vt:lpstr>
      <vt:lpstr>Permanent Marker</vt:lpstr>
      <vt:lpstr>Arial</vt:lpstr>
      <vt:lpstr>Roboto Condensed Light</vt:lpstr>
      <vt:lpstr>Aptos</vt:lpstr>
      <vt:lpstr>Nunito</vt:lpstr>
      <vt:lpstr> Arizona Stickers Theme for Social Media by Slidesgo</vt:lpstr>
      <vt:lpstr>AstroSage Call Center Performance Analysis </vt:lpstr>
      <vt:lpstr>Introduction and Data Overview</vt:lpstr>
      <vt:lpstr>Introduction</vt:lpstr>
      <vt:lpstr>Data Overview</vt:lpstr>
      <vt:lpstr>Analysis and Insights</vt:lpstr>
      <vt:lpstr>Q1) Where is the User Base coming from ?</vt:lpstr>
      <vt:lpstr>Q2) What are Call Outcomes?</vt:lpstr>
      <vt:lpstr>Q3) What are Chat Outcomes?</vt:lpstr>
      <vt:lpstr>Q4) Which Consultation Type leads Revenue?</vt:lpstr>
      <vt:lpstr>Q5) What's the Daily Call Volume?</vt:lpstr>
      <vt:lpstr>Q6) What's the Hourly Call Volume?</vt:lpstr>
      <vt:lpstr>Q7) What's the Rating of Users Experience?</vt:lpstr>
      <vt:lpstr>Q8) How many Ratings are achieved by Guru’s?</vt:lpstr>
      <vt:lpstr>Q9) Who are the Top 10 Gurus?</vt:lpstr>
      <vt:lpstr>Q10) Which KPI’s were used in the Dashboard?</vt:lpstr>
      <vt:lpstr>Q11) Which Slicers were used in the dashboard?</vt:lpstr>
      <vt:lpstr>Dashboard Visualization</vt:lpstr>
      <vt:lpstr>PowerPoint Presentation</vt:lpstr>
      <vt:lpstr>Strategic Recommendation</vt:lpstr>
      <vt:lpstr>PowerPoint Presentation</vt:lpstr>
      <vt:lpstr>Summarized Conclusion</vt:lpstr>
      <vt:lpstr>"Through the power of data-driven insights and strategic investments, AstroSage can turn existing inefficiencies into future strengths — shaping a call center that is efficient, customer-focused, and prepared for the challenges of tomorrow."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Amaan Saiyyad</dc:creator>
  <cp:lastModifiedBy>Amaan Saiyyad</cp:lastModifiedBy>
  <cp:revision>10</cp:revision>
  <dcterms:modified xsi:type="dcterms:W3CDTF">2025-10-27T21:39:42Z</dcterms:modified>
</cp:coreProperties>
</file>